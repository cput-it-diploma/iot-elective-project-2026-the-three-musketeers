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E23E-AC65-DED0-E6A3-89450DEF6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96572-17E5-4C7F-C02B-3FBD1E7C1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555BB-0C5F-1CB5-66AC-CE7AC5B0C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88B5-5B16-E852-0B1A-BC9A8F6C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5E82-A94B-7387-E3AF-E76AB83C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715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9975-7BCE-5A54-0177-1A7334C3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D0AD-8BDE-E330-263E-D8637AEA4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21CCB-80E9-E5BC-92C2-A2F4790A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77BE4-E9D1-8A34-821D-FD2AAF62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CF38A-EE9D-10C6-5DDF-67EFB898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643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BBD8-2D3F-9B3C-95E2-2B6D6520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3FDE8-DD37-FB4A-257A-09FF40387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5843E-88D1-4F12-5F3F-789F3919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C9649-1BAE-09C8-7EC8-2B28B5D7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45A45-8499-9658-33D3-0D0D219C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47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85D0-FB40-9B61-560D-6E2CBBAD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1CD8-1124-AC99-763D-DCB00CB2B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1DA04-CDAB-7E93-8655-B8BA125FB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E3A39-1944-BC23-B508-CC792750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93AFF-9C47-0D01-6680-54DB06A1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2FBAF-9CA7-B125-E248-4BCC187C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034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6306-1197-FB9F-8CBC-07BC0D6D9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37E8C-ADA5-1A67-E29D-063CA7123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4D127-30D4-93D1-BE4C-E7EE8AE69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713EC-88BE-4D72-D9B2-BE2891109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C5145-6E8A-6A4A-7812-FA5741AE4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37B6C-2284-1005-48CF-7C663C83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CB6D7-E445-AE39-9E73-6DDC2368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170A5-EE07-B02F-89E2-4CE24EFA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657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72EC-2318-343D-2E65-E7F3A0D7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BD5F3-31E0-2BC2-D4CB-B9B1C1B4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F2C30-216C-6444-7B77-39002141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9F41B-B3CE-D01A-6921-6BA78EDC9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1756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4D5ED-47BA-F7B5-A855-8E244E92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83BB7-B1CD-BE22-8C53-EAC4A957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BCCEB-BA8B-2F2A-2089-F38CD2EA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605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8709-AE52-8FA4-8166-267CB610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1C25-7B79-C2E9-4724-280DA160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CDE3C-1F77-45E3-DDEC-637CE5D3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4B07-36EF-A814-2E29-47D19657F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16F74-B182-0B43-A82C-0D3D3159B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1E887-C803-E44A-FB1B-F9B2427C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704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3BD1-2311-0AF3-7908-58FE6E1C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A51E7-EC33-27D1-F768-FE8A56613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93712-302B-3AD2-5ACA-9C8FC28CE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C3F82-18B6-BE12-20F1-892738A6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7BF74-EC2D-5641-416E-FF94E419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8B0B8-FD90-FA64-5990-1AA448F5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213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666C-CAD2-E74A-E7B9-9A9D405E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50F16-6FE0-6781-6BEB-2BD3BD752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8512E-3203-7067-770D-C09256ED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87D85-38F1-6C80-BE93-EC132FF8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5EF74-122D-A30A-38EE-2F498547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80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A1A60-CE5A-A2E3-C01C-4732D70B5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391C1-5E19-3D2C-7301-AEFDCADEE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D084-752F-BF5F-D659-B142E018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4D6F1-8DE5-81AC-A181-EBDE4A9EE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FC9E3-7C34-A92F-5A8A-880B9E24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449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2AA1C-8672-96D9-F96F-1B453A1A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3DF85-79C9-572C-DD84-64E4AF52A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72C7-C994-276F-A6F1-AC8BD0282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A9464-86E6-4A73-B61D-26B363151B92}" type="datetimeFigureOut">
              <a:rPr lang="en-ZA" smtClean="0"/>
              <a:t>2026/05/21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C15DC-F5B0-C2DA-29A1-C55C6597E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8B4DE-644B-6641-7708-B6CC00813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9949F-A1C7-446B-8992-BCF20DF566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821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A5A6-C3F8-9CB0-4860-5A63914CE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7880" y="335280"/>
            <a:ext cx="8275320" cy="1376680"/>
          </a:xfrm>
        </p:spPr>
        <p:txBody>
          <a:bodyPr>
            <a:normAutofit/>
          </a:bodyPr>
          <a:lstStyle/>
          <a:p>
            <a:r>
              <a:rPr lang="en-ZA" sz="5400" dirty="0">
                <a:latin typeface="Arial" panose="020B0604020202020204" pitchFamily="34" charset="0"/>
                <a:cs typeface="Arial" panose="020B0604020202020204" pitchFamily="34" charset="0"/>
              </a:rPr>
              <a:t>The Three Musketeers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40EE4-7C24-0CC1-4BEE-D8ED5F15C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0760" y="1773238"/>
            <a:ext cx="8275320" cy="710882"/>
          </a:xfrm>
        </p:spPr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RFID STUDENT CARD READER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351362-80AF-2147-851E-C603EFD76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52030"/>
              </p:ext>
            </p:extLst>
          </p:nvPr>
        </p:nvGraphicFramePr>
        <p:xfrm>
          <a:off x="2161540" y="3051386"/>
          <a:ext cx="8128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573789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1534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Student 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Name &amp; Surname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51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222144408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Emmanuel Posholi </a:t>
                      </a:r>
                      <a:r>
                        <a:rPr lang="en-ZA" dirty="0" err="1"/>
                        <a:t>Posholi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579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221805486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Sisonke </a:t>
                      </a:r>
                      <a:r>
                        <a:rPr lang="en-ZA" dirty="0" err="1"/>
                        <a:t>Mhlana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4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222353775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Shezi </a:t>
                      </a:r>
                      <a:r>
                        <a:rPr lang="en-ZA" dirty="0" err="1"/>
                        <a:t>Minathi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574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09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5506-C694-5FE7-CFAD-5F5462A8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32764"/>
            <a:ext cx="3932237" cy="924636"/>
          </a:xfrm>
        </p:spPr>
        <p:txBody>
          <a:bodyPr/>
          <a:lstStyle/>
          <a:p>
            <a:pPr algn="ctr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2F2645E-DA71-97BC-B4B6-B531516FD21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92" b="27792"/>
          <a:stretch>
            <a:fillRect/>
          </a:stretch>
        </p:blipFill>
        <p:spPr>
          <a:xfrm>
            <a:off x="5494032" y="1132764"/>
            <a:ext cx="5858179" cy="48374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6450-A286-EC01-BB57-74E48D47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ZA" sz="1800" dirty="0">
                <a:latin typeface="Arial" panose="020B0604020202020204" pitchFamily="34" charset="0"/>
                <a:cs typeface="Arial" panose="020B0604020202020204" pitchFamily="34" charset="0"/>
              </a:rPr>
              <a:t>This document outlines the development process of integrating a </a:t>
            </a:r>
            <a:r>
              <a:rPr lang="en-ZA" sz="1800" dirty="0" err="1">
                <a:latin typeface="Arial" panose="020B0604020202020204" pitchFamily="34" charset="0"/>
                <a:cs typeface="Arial" panose="020B0604020202020204" pitchFamily="34" charset="0"/>
              </a:rPr>
              <a:t>DFRobot</a:t>
            </a:r>
            <a:r>
              <a:rPr lang="en-ZA" sz="1800" dirty="0">
                <a:latin typeface="Arial" panose="020B0604020202020204" pitchFamily="34" charset="0"/>
                <a:cs typeface="Arial" panose="020B0604020202020204" pitchFamily="34" charset="0"/>
              </a:rPr>
              <a:t> Heavy Duty Electromagnetic Lock (12V Solenoid) with an Arduino Uno microcontroller. The project successfully achieved control of the lock via a relay module. However, a critical lesson was learned when the lock was accidentally burned due to excessive power-on time.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3079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3077-9D85-0055-510B-9A427557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Problem Statement &amp; Solution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C9C0074-D989-D8D1-1D36-4C5D7EEABE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2" r="14442"/>
          <a:stretch>
            <a:fillRect/>
          </a:stretch>
        </p:blipFill>
        <p:spPr>
          <a:xfrm>
            <a:off x="5180013" y="1257300"/>
            <a:ext cx="6172200" cy="48736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A50C67-32B7-8151-1C28-159EEC0F7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343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Problem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Making physical student cards wastes time, money, ink, and paper. Students must stand in long queues to get a new card or replacement. The current system is inefficient and outdated.</a:t>
            </a:r>
          </a:p>
          <a:p>
            <a:pPr>
              <a:lnSpc>
                <a:spcPct val="12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digital student ID system using NFC technology. Students would sign up on a university app and receive a digital student card on their phone - similar to how medical aid apps work. This digital card would be used to open doors and gates via NFC.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Due to component limitations, our prototype uses a physical student card or tag instead of a phone. However, the working system proves the concept. Future implementation with the university app would eliminate physical cards entirely.</a:t>
            </a:r>
          </a:p>
          <a:p>
            <a:endParaRPr lang="en-Z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9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F30D-70B7-7148-AF75-348ABED8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Problems Faced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EE04-792D-E8CD-5526-5420A0C5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1: Arduino Not Reading / Not Responding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The Arduino Uno was not being recognized by the computer when connected via USB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Code would not upload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No serial communication could be established</a:t>
            </a:r>
          </a:p>
          <a:p>
            <a:pPr marL="0" lvl="0" indent="0">
              <a:buNone/>
            </a:pP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Solution Applied: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Tested multiple USB cables to ensure data transfer capability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Reinstalled CH340/Arduino drivers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Selected the correct COM port and board (Arduino Uno) in Arduino IDE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Restarted the Arduino IDE and computer</a:t>
            </a:r>
          </a:p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Status:</a:t>
            </a:r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 Resolved</a:t>
            </a: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115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06AC-7D39-0F43-4640-111F98809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Problems Faced and Solutions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0646-A444-1F69-A0C2-47CA65CBB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2: No Power Supply Available for the Lock</a:t>
            </a:r>
            <a:endParaRPr lang="en-ZA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7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endParaRPr lang="en-ZA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The 12V solenoid lock requires 12V DC at approximately 1.5A</a:t>
            </a:r>
          </a:p>
          <a:p>
            <a:pPr lvl="0"/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Initially, no suitable 12V power source was available</a:t>
            </a:r>
          </a:p>
          <a:p>
            <a:pPr lvl="0"/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The Arduino's 5V pin cannot power the lock (voltage too low, current insufficient)</a:t>
            </a:r>
          </a:p>
          <a:p>
            <a:pPr marL="0" lvl="0" indent="0">
              <a:buNone/>
            </a:pPr>
            <a:endParaRPr lang="en-ZA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700" b="1" dirty="0">
                <a:latin typeface="Arial" panose="020B0604020202020204" pitchFamily="34" charset="0"/>
                <a:cs typeface="Arial" panose="020B0604020202020204" pitchFamily="34" charset="0"/>
              </a:rPr>
              <a:t>Final Solution Applied:</a:t>
            </a:r>
            <a:endParaRPr lang="en-ZA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A DStv 12V AC adapter was used as the power supply </a:t>
            </a:r>
          </a:p>
          <a:p>
            <a:pPr lvl="0"/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The adapter successfully provided the required 12V DC power to the relay module and lock</a:t>
            </a:r>
          </a:p>
          <a:p>
            <a:r>
              <a:rPr lang="en-ZA" sz="1700" b="1" dirty="0">
                <a:latin typeface="Arial" panose="020B0604020202020204" pitchFamily="34" charset="0"/>
                <a:cs typeface="Arial" panose="020B0604020202020204" pitchFamily="34" charset="0"/>
              </a:rPr>
              <a:t>Status:</a:t>
            </a:r>
            <a:r>
              <a:rPr lang="en-ZA" sz="1700" dirty="0">
                <a:latin typeface="Arial" panose="020B0604020202020204" pitchFamily="34" charset="0"/>
                <a:cs typeface="Arial" panose="020B0604020202020204" pitchFamily="34" charset="0"/>
              </a:rPr>
              <a:t> Partially Resolved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9580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4637-DDDD-5F65-49A4-61C1D2E6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458"/>
            <a:ext cx="10515600" cy="1325563"/>
          </a:xfrm>
        </p:spPr>
        <p:txBody>
          <a:bodyPr/>
          <a:lstStyle/>
          <a:p>
            <a:pPr algn="ctr"/>
            <a:r>
              <a:rPr lang="en-ZA" dirty="0"/>
              <a:t>Problems Faced and Solutions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F5DB80-CAD0-7B8F-AE80-056812AAC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775381"/>
              </p:ext>
            </p:extLst>
          </p:nvPr>
        </p:nvGraphicFramePr>
        <p:xfrm>
          <a:off x="2425960" y="5117251"/>
          <a:ext cx="7891749" cy="145685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630583">
                  <a:extLst>
                    <a:ext uri="{9D8B030D-6E8A-4147-A177-3AD203B41FA5}">
                      <a16:colId xmlns:a16="http://schemas.microsoft.com/office/drawing/2014/main" val="553265834"/>
                    </a:ext>
                  </a:extLst>
                </a:gridCol>
                <a:gridCol w="2630583">
                  <a:extLst>
                    <a:ext uri="{9D8B030D-6E8A-4147-A177-3AD203B41FA5}">
                      <a16:colId xmlns:a16="http://schemas.microsoft.com/office/drawing/2014/main" val="3111531103"/>
                    </a:ext>
                  </a:extLst>
                </a:gridCol>
                <a:gridCol w="2630583">
                  <a:extLst>
                    <a:ext uri="{9D8B030D-6E8A-4147-A177-3AD203B41FA5}">
                      <a16:colId xmlns:a16="http://schemas.microsoft.com/office/drawing/2014/main" val="58795087"/>
                    </a:ext>
                  </a:extLst>
                </a:gridCol>
              </a:tblGrid>
              <a:tr h="5837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Adapter Label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Output Type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Usable?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93293570"/>
                  </a:ext>
                </a:extLst>
              </a:tr>
              <a:tr h="8730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12V DC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Direct Current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Yes - provided the lock was not left on too long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050212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C0A1D84-A38D-1112-53CD-F4F2EFA62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15" y="1645021"/>
            <a:ext cx="8879007" cy="3376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 3: Using a DStv 12V AC Adapter as Power Supply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Description: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DStv decoder power adapter was available (commonly found in South African households)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adapter needed to be verified for output type (AC vs DC) and current rating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Investigation Result: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Outcome: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DStv adapter was successfully used to power the relay and lock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provided sufficient voltage (12V DC) for the solenoid to activate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Status:</a:t>
            </a:r>
            <a:r>
              <a:rPr kumimoji="0" lang="en-Z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kumimoji="0" lang="en-ZA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Resolved and successfully used</a:t>
            </a:r>
            <a:endParaRPr kumimoji="0" lang="en-Z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85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F6EA-F2B9-FCF5-2F1B-35336386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Problems Faced and Solutions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0E750-88A1-D4E7-B91E-B43382382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696" y="1825625"/>
            <a:ext cx="10412104" cy="3756309"/>
          </a:xfrm>
        </p:spPr>
        <p:txBody>
          <a:bodyPr>
            <a:normAutofit/>
          </a:bodyPr>
          <a:lstStyle/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4: Lock Got Burned (Accidental Damage)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During testing, the 12V solenoid lock was accidentally connected to power for more than 5 seconds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This caused the copper coil inside the lock to overheat and burn out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The lock is now permanently damaged and will not function</a:t>
            </a:r>
          </a:p>
          <a:p>
            <a:pPr marL="0" indent="0">
              <a:buNone/>
            </a:pP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600" b="1" dirty="0">
                <a:latin typeface="Arial" panose="020B0604020202020204" pitchFamily="34" charset="0"/>
                <a:cs typeface="Arial" panose="020B0604020202020204" pitchFamily="34" charset="0"/>
              </a:rPr>
              <a:t>Why This Happened:</a:t>
            </a:r>
            <a:endParaRPr lang="en-Z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The lock is designed for short pulses only (typically 0.5 to 5 seconds maximum)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Leaving 12V applied continuously causes the coil to overheat rapidly</a:t>
            </a:r>
          </a:p>
          <a:p>
            <a:pPr lvl="0"/>
            <a:r>
              <a:rPr lang="en-ZA" sz="1600" dirty="0">
                <a:latin typeface="Arial" panose="020B0604020202020204" pitchFamily="34" charset="0"/>
                <a:cs typeface="Arial" panose="020B0604020202020204" pitchFamily="34" charset="0"/>
              </a:rPr>
              <a:t>There is no internal thermal protection or automatic shutoff</a:t>
            </a:r>
          </a:p>
        </p:txBody>
      </p:sp>
    </p:spTree>
    <p:extLst>
      <p:ext uri="{BB962C8B-B14F-4D97-AF65-F5344CB8AC3E}">
        <p14:creationId xmlns:p14="http://schemas.microsoft.com/office/powerpoint/2010/main" val="207668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2A82B4-7092-3D18-9D77-1D12D74F2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318071"/>
              </p:ext>
            </p:extLst>
          </p:nvPr>
        </p:nvGraphicFramePr>
        <p:xfrm>
          <a:off x="2265527" y="4173088"/>
          <a:ext cx="7816098" cy="25090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5366">
                  <a:extLst>
                    <a:ext uri="{9D8B030D-6E8A-4147-A177-3AD203B41FA5}">
                      <a16:colId xmlns:a16="http://schemas.microsoft.com/office/drawing/2014/main" val="3482345268"/>
                    </a:ext>
                  </a:extLst>
                </a:gridCol>
                <a:gridCol w="2605366">
                  <a:extLst>
                    <a:ext uri="{9D8B030D-6E8A-4147-A177-3AD203B41FA5}">
                      <a16:colId xmlns:a16="http://schemas.microsoft.com/office/drawing/2014/main" val="4260646909"/>
                    </a:ext>
                  </a:extLst>
                </a:gridCol>
                <a:gridCol w="2605366">
                  <a:extLst>
                    <a:ext uri="{9D8B030D-6E8A-4147-A177-3AD203B41FA5}">
                      <a16:colId xmlns:a16="http://schemas.microsoft.com/office/drawing/2014/main" val="1930916710"/>
                    </a:ext>
                  </a:extLst>
                </a:gridCol>
              </a:tblGrid>
              <a:tr h="387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Demonstration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9307051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Arduino code uploads correctly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 shows successful upload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7713643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Relay module receives signal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 light appears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8847246"/>
                  </a:ext>
                </a:extLst>
              </a:tr>
              <a:tr h="5722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Relay switches power from DStv adapter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Multimeter shows voltage switching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199832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Lock receives power at correct time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Lock worked initially before burning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2865553"/>
                  </a:ext>
                </a:extLst>
              </a:tr>
              <a:tr h="3873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logic (pulse timing)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ZA" sz="11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 executed as intended</a:t>
                      </a:r>
                      <a:endParaRPr lang="en-ZA" sz="11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77455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77A4F7-999B-DF3E-F116-F9BCF4BCB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025399"/>
              </p:ext>
            </p:extLst>
          </p:nvPr>
        </p:nvGraphicFramePr>
        <p:xfrm>
          <a:off x="2265528" y="1421475"/>
          <a:ext cx="7816098" cy="2509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5366">
                  <a:extLst>
                    <a:ext uri="{9D8B030D-6E8A-4147-A177-3AD203B41FA5}">
                      <a16:colId xmlns:a16="http://schemas.microsoft.com/office/drawing/2014/main" val="3205954138"/>
                    </a:ext>
                  </a:extLst>
                </a:gridCol>
                <a:gridCol w="2605366">
                  <a:extLst>
                    <a:ext uri="{9D8B030D-6E8A-4147-A177-3AD203B41FA5}">
                      <a16:colId xmlns:a16="http://schemas.microsoft.com/office/drawing/2014/main" val="3413883324"/>
                    </a:ext>
                  </a:extLst>
                </a:gridCol>
                <a:gridCol w="2605366">
                  <a:extLst>
                    <a:ext uri="{9D8B030D-6E8A-4147-A177-3AD203B41FA5}">
                      <a16:colId xmlns:a16="http://schemas.microsoft.com/office/drawing/2014/main" val="2999894239"/>
                    </a:ext>
                  </a:extLst>
                </a:gridCol>
              </a:tblGrid>
              <a:tr h="4181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Component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Specification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Status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7346527"/>
                  </a:ext>
                </a:extLst>
              </a:tr>
              <a:tr h="4181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Arduino Uno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5V logic, ATMega328P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Working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6273909"/>
                  </a:ext>
                </a:extLst>
              </a:tr>
              <a:tr h="4181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Electromagnetic Lock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DFRobot Heavy Duty 12V Solenoid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Burned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339840"/>
                  </a:ext>
                </a:extLst>
              </a:tr>
              <a:tr h="4181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Relay Module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SRD-05VDC-SL-C (2-channel)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Working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3875358"/>
                  </a:ext>
                </a:extLst>
              </a:tr>
              <a:tr h="4181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Power Supply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DStv 12V DC adapter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Working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5783083"/>
                  </a:ext>
                </a:extLst>
              </a:tr>
              <a:tr h="4181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cap="all">
                          <a:effectLst/>
                        </a:rPr>
                        <a:t>Connecting Wires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>
                          <a:effectLst/>
                        </a:rPr>
                        <a:t>Jumper wires, stripped wires</a:t>
                      </a:r>
                      <a:endParaRPr lang="en-ZA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1100" kern="100" dirty="0">
                          <a:effectLst/>
                        </a:rPr>
                        <a:t>Working</a:t>
                      </a:r>
                      <a:endParaRPr lang="en-ZA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766038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B937887-3392-E506-ECA2-519CD1509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132" y="664283"/>
            <a:ext cx="4533742" cy="918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altLang="en-US" sz="2000" i="0" u="none" strike="noStrike" normalizeH="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Was Successfully Demonstrated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44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4BF1C3-C43C-F0C6-141A-A4376FD410E9}"/>
              </a:ext>
            </a:extLst>
          </p:cNvPr>
          <p:cNvSpPr txBox="1"/>
          <p:nvPr/>
        </p:nvSpPr>
        <p:spPr>
          <a:xfrm>
            <a:off x="859809" y="609411"/>
            <a:ext cx="10044752" cy="459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ZA" sz="36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Lessons Learned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Solenoid locks are pulse-operated devices - they must only receive power for short bursts (5 seconds or less)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burned lock does not mean the system failed - the Arduino, relay, and power supply can still be fully functional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verify the power-on time in code before leaving a test running unattended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relay clicking is proof of successful control - even if the lock no longer moves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DStv 12V adapter works perfectly as a power supply for this project, provided it outputs DC (not AC)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Face-to-face campus meetings were essential for hands-on wiring and troubleshooting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ZA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WhatsApp served as an effective remote communication tool for sharing progress and problems</a:t>
            </a:r>
            <a:endParaRPr lang="en-ZA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2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89E8F-EBFB-2E72-39BF-3735BB2BEF6C}"/>
              </a:ext>
            </a:extLst>
          </p:cNvPr>
          <p:cNvSpPr txBox="1"/>
          <p:nvPr/>
        </p:nvSpPr>
        <p:spPr>
          <a:xfrm>
            <a:off x="968991" y="2210683"/>
            <a:ext cx="9142862" cy="2843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ZA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successfully demonstrated Arduino-controlled operation of a relay module using a DStv 12V power supply. The relay clicked, the code executed, and the lock initially activated as intended.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ZA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However, the lock was accidentally burned due to being powered for more than 5 seconds, which exceeds the solenoid's design limits.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ZA" sz="16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failure was user error, not a design flaw. All other components remain fully functional, proving that the control system works correctly. The experience reinforced the critical importance of respecting manufacturer specifications for pulse-operated components.</a:t>
            </a:r>
            <a:endParaRPr lang="en-ZA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B9B86-32D6-4962-46F5-A6D1AABEEE80}"/>
              </a:ext>
            </a:extLst>
          </p:cNvPr>
          <p:cNvSpPr txBox="1"/>
          <p:nvPr/>
        </p:nvSpPr>
        <p:spPr>
          <a:xfrm>
            <a:off x="2708511" y="1173707"/>
            <a:ext cx="56638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ZA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2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The Three Musketeers </vt:lpstr>
      <vt:lpstr>Introduction</vt:lpstr>
      <vt:lpstr>Problem Statement &amp; Solution</vt:lpstr>
      <vt:lpstr>Problems Faced and Solutions</vt:lpstr>
      <vt:lpstr>Problems Faced and Solutions </vt:lpstr>
      <vt:lpstr>Problems Faced and Solutions </vt:lpstr>
      <vt:lpstr>Problems Faced and Solutions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Eazy E</dc:creator>
  <cp:lastModifiedBy>Eazy E</cp:lastModifiedBy>
  <cp:revision>1</cp:revision>
  <dcterms:created xsi:type="dcterms:W3CDTF">2026-05-21T19:04:11Z</dcterms:created>
  <dcterms:modified xsi:type="dcterms:W3CDTF">2026-05-21T19:04:28Z</dcterms:modified>
</cp:coreProperties>
</file>